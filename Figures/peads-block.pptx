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FFCC99"/>
    <a:srgbClr val="FFCC66"/>
    <a:srgbClr val="6666FF"/>
    <a:srgbClr val="FF7C80"/>
    <a:srgbClr val="FFFFCC"/>
    <a:srgbClr val="FFFF99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1685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2F9E1-ADA5-CDA7-8811-E63A75B98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F0CD87-15E6-D8C6-F52F-CBFF9C5828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6C0D3-D7EF-2EF2-7047-C42F0B778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A4D4-484B-4674-9C47-49AFF4631F1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F4572-642E-75B1-48D9-418C77053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B4FA7-A676-C1D9-93B4-ABB116FA5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A5E19-B53D-4FA5-83F6-08C7DA77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625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9AF7F-2DD3-EA1F-480F-792C21A9B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1C6B7-BED0-8979-71F6-8383D5BD6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E438C-E8EE-58CB-7F3E-AC35B2B5B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A4D4-484B-4674-9C47-49AFF4631F1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155C99-E147-F0A8-98A7-D977CD209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2AEDD-8915-47F3-1F22-8D1BA863F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A5E19-B53D-4FA5-83F6-08C7DA77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58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411BA-182E-A3D2-5B0C-A2F557C64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2CCCE-114F-D924-3FF1-A785610A2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9F2BB-3773-4B96-5AA8-4860ED54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A4D4-484B-4674-9C47-49AFF4631F1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6B0D8-160E-C65E-688D-3FC512A66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11B28-918F-0CFF-AB48-9897A537E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A5E19-B53D-4FA5-83F6-08C7DA77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6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BA30-6C3E-D6B1-6057-5475325A3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569EB-5188-84AD-A729-7477916A13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762D88-6E73-2850-A707-D78A08373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0EF04-417C-B3DB-42A2-DD100C72A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A4D4-484B-4674-9C47-49AFF4631F1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DDFA21-6367-81BA-D861-5EEA2981F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34ECB-FCC9-6067-F780-FFAA1D57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A5E19-B53D-4FA5-83F6-08C7DA77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7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B6C2-D52F-A401-8738-D7BD8214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EB5ED-5D9E-83B8-45CF-8D9338B671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6C002-7998-4E6E-CD59-311417389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286296-CBBC-2548-AF5A-7134AD6F9B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8F06F0-E289-3818-CB42-72C154BFE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D11E5-EE32-280C-8407-A3F8748AF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A4D4-484B-4674-9C47-49AFF4631F1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204ED-2258-FE87-AE41-7F832A49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122095-4908-9050-BBC3-EF2CBFD5C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A5E19-B53D-4FA5-83F6-08C7DA77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22785-00B6-79D2-7834-A01A034B7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81EA51-5F3A-604E-F10E-995A3DE13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A4D4-484B-4674-9C47-49AFF4631F1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DC3BF-6714-F159-ACB6-609DFB482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03547-CE24-36F8-34AF-C3EE29CF9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A5E19-B53D-4FA5-83F6-08C7DA77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03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57E0C-055A-2CE9-7C6A-5ABCF58B3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A4D4-484B-4674-9C47-49AFF4631F1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F426D-F74E-C844-3537-8F660F84A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84946-A2DC-39A8-38EA-4D560A269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A5E19-B53D-4FA5-83F6-08C7DA77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11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A42AA-8F26-EE8C-8CF8-420D543E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89423-9D11-55F0-6A42-71CC1B948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D8F6A-20FC-0301-CE93-C77AE686F2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3203A-B947-CC15-21B5-F88F2064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A4D4-484B-4674-9C47-49AFF4631F1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F054B-CFE5-AAD2-FF69-03384A51B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3DA689-A9CD-B3CE-4F79-92F9A82D8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A5E19-B53D-4FA5-83F6-08C7DA77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7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DEE2-EC0C-6105-DE64-0C660F94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8751B0-433E-8BA3-3EA2-5C7DBBCDF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B231E-D244-7E93-AB26-BB7E1790A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23AB5-9AA6-F885-208C-508981031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A4D4-484B-4674-9C47-49AFF4631F1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0BA4A-7889-4D0C-98E0-A9B360A82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7F3D7-35DA-DF4B-0350-13C52B4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A5E19-B53D-4FA5-83F6-08C7DA77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08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F0687-4E74-BAEE-8CFF-5BC9E02C0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612848-630A-6A9E-97EC-4B2449229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D5D4C-AA25-3010-E5FF-90CD5F93C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A4D4-484B-4674-9C47-49AFF4631F1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D85A8-6B34-8C75-4387-F9F3514D4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2A92A-BFC4-B9E0-95B6-424DF0613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A5E19-B53D-4FA5-83F6-08C7DA77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1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56BCC6-5F73-080B-94EB-3F6994E4C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3CA8E-23E2-F094-F723-18DDD6DB4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2F62E-F857-578E-CD48-FE5183E3A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A4D4-484B-4674-9C47-49AFF4631F1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1C013-471F-F2D2-C19D-3905EC9DE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095C1-1850-773C-F017-94EF22CB1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4A5E19-B53D-4FA5-83F6-08C7DA77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413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CCA42-1FC2-02D6-2588-0D79784A4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FF805-F352-D243-2618-B88739424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8BFA7-E920-DC76-A01C-0E5E1A0BE0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36A4D4-484B-4674-9C47-49AFF4631F11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12E61-D91A-F227-C2F9-5DBCB44E0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93BE6-F128-ACDE-1160-693C5D7BF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4A5E19-B53D-4FA5-83F6-08C7DA77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8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7440D-CA55-BBC1-8392-84D1C069A5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2F2F2-89AA-BEFB-2FB9-DB7DBF7124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48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>
            <a:extLst>
              <a:ext uri="{FF2B5EF4-FFF2-40B4-BE49-F238E27FC236}">
                <a16:creationId xmlns:a16="http://schemas.microsoft.com/office/drawing/2014/main" id="{90406762-349E-88E4-D483-FA4D3FC45963}"/>
              </a:ext>
            </a:extLst>
          </p:cNvPr>
          <p:cNvGrpSpPr/>
          <p:nvPr/>
        </p:nvGrpSpPr>
        <p:grpSpPr>
          <a:xfrm>
            <a:off x="-4498712" y="314653"/>
            <a:ext cx="19388505" cy="5544789"/>
            <a:chOff x="2699462" y="990756"/>
            <a:chExt cx="9794357" cy="5544789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59059D9-F916-30F2-195B-C01D83C1AB85}"/>
                </a:ext>
              </a:extLst>
            </p:cNvPr>
            <p:cNvSpPr txBox="1"/>
            <p:nvPr/>
          </p:nvSpPr>
          <p:spPr>
            <a:xfrm>
              <a:off x="2699466" y="2830165"/>
              <a:ext cx="6129023" cy="461665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00B0F0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2400" b="1" dirty="0" smtClean="0">
                  <a:latin typeface="Arial Narrow" panose="020B0606020202030204" pitchFamily="34" charset="0"/>
                </a:rPr>
                <a:t>Classification</a:t>
              </a:r>
              <a:endParaRPr lang="en-US" sz="2400" b="1" dirty="0">
                <a:latin typeface="Arial Narrow" panose="020B0606020202030204" pitchFamily="34" charset="0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1CB5E338-0488-FE13-6A3A-9DAE90A02A03}"/>
                </a:ext>
              </a:extLst>
            </p:cNvPr>
            <p:cNvSpPr txBox="1"/>
            <p:nvPr/>
          </p:nvSpPr>
          <p:spPr>
            <a:xfrm>
              <a:off x="4850292" y="4106409"/>
              <a:ext cx="405227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Arial Narrow" panose="020B0606020202030204" pitchFamily="34" charset="0"/>
                </a:rPr>
                <a:t>Quadratic SVM, Subspace KNN, Medium Neural Network, XGBoost, Voting Classifier.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699831A-B1CF-66C5-06FA-55C99278B6D3}"/>
                </a:ext>
              </a:extLst>
            </p:cNvPr>
            <p:cNvSpPr txBox="1"/>
            <p:nvPr/>
          </p:nvSpPr>
          <p:spPr>
            <a:xfrm>
              <a:off x="4828035" y="3401371"/>
              <a:ext cx="405227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Arial Narrow" panose="020B0606020202030204" pitchFamily="34" charset="0"/>
                </a:rPr>
                <a:t>Logistic Regression, EBDT v1, Random Forest, Perceptron, EBDT v2 (Proposed).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23508ED-AB0D-9887-200C-7A65605C0A81}"/>
                </a:ext>
              </a:extLst>
            </p:cNvPr>
            <p:cNvSpPr txBox="1"/>
            <p:nvPr/>
          </p:nvSpPr>
          <p:spPr>
            <a:xfrm>
              <a:off x="2707800" y="3375530"/>
              <a:ext cx="2068416" cy="369332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b="1" dirty="0">
                  <a:latin typeface="Arial Narrow" panose="020B0606020202030204" pitchFamily="34" charset="0"/>
                </a:rPr>
                <a:t>Ante Hoc Models (Interpretable)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0CDF3FD-761D-0F4A-9168-EE7D4779F3DE}"/>
                </a:ext>
              </a:extLst>
            </p:cNvPr>
            <p:cNvSpPr txBox="1"/>
            <p:nvPr/>
          </p:nvSpPr>
          <p:spPr>
            <a:xfrm flipH="1">
              <a:off x="11514065" y="990756"/>
              <a:ext cx="979754" cy="923330"/>
            </a:xfrm>
            <a:prstGeom prst="rect">
              <a:avLst/>
            </a:prstGeom>
            <a:solidFill>
              <a:srgbClr val="FF7C80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Arial Narrow" panose="020B0606020202030204" pitchFamily="34" charset="0"/>
                </a:rPr>
                <a:t>Handle </a:t>
              </a:r>
              <a:r>
                <a:rPr lang="en-US" b="1" dirty="0" smtClean="0">
                  <a:latin typeface="Arial Narrow" panose="020B0606020202030204" pitchFamily="34" charset="0"/>
                </a:rPr>
                <a:t>Class</a:t>
              </a:r>
            </a:p>
            <a:p>
              <a:pPr algn="ctr"/>
              <a:r>
                <a:rPr lang="en-US" b="1" dirty="0" smtClean="0">
                  <a:latin typeface="Arial Narrow" panose="020B0606020202030204" pitchFamily="34" charset="0"/>
                </a:rPr>
                <a:t> </a:t>
              </a:r>
              <a:r>
                <a:rPr lang="en-US" b="1" dirty="0">
                  <a:latin typeface="Arial Narrow" panose="020B0606020202030204" pitchFamily="34" charset="0"/>
                </a:rPr>
                <a:t>Imbalance (SMOTE)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5015B70-BF43-C558-19AF-1915D8CBD6F1}"/>
                </a:ext>
              </a:extLst>
            </p:cNvPr>
            <p:cNvSpPr txBox="1"/>
            <p:nvPr/>
          </p:nvSpPr>
          <p:spPr>
            <a:xfrm>
              <a:off x="2699462" y="4121811"/>
              <a:ext cx="2076754" cy="64633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b="1" dirty="0">
                  <a:latin typeface="Arial Narrow" panose="020B0606020202030204" pitchFamily="34" charset="0"/>
                </a:rPr>
                <a:t>Post Hoc Models (High-Accuracy, Less Transparent)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E77D119-A4F5-F5A8-6D33-21B2C9B28A73}"/>
                </a:ext>
              </a:extLst>
            </p:cNvPr>
            <p:cNvSpPr txBox="1"/>
            <p:nvPr/>
          </p:nvSpPr>
          <p:spPr>
            <a:xfrm>
              <a:off x="2811439" y="5889214"/>
              <a:ext cx="6120689" cy="646331"/>
            </a:xfrm>
            <a:prstGeom prst="rect">
              <a:avLst/>
            </a:prstGeom>
            <a:solidFill>
              <a:srgbClr val="FFCCCC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b="1" dirty="0" smtClean="0">
                  <a:latin typeface="Arial Narrow" panose="020B0606020202030204" pitchFamily="34" charset="0"/>
                </a:rPr>
                <a:t>Explainable AI </a:t>
              </a:r>
              <a:r>
                <a:rPr lang="en-US" b="1" dirty="0">
                  <a:latin typeface="Arial Narrow" panose="020B0606020202030204" pitchFamily="34" charset="0"/>
                </a:rPr>
                <a:t>Evaluation</a:t>
              </a:r>
              <a:r>
                <a:rPr lang="en-US" b="1" dirty="0" smtClean="0">
                  <a:latin typeface="Arial Narrow" panose="020B0606020202030204" pitchFamily="34" charset="0"/>
                </a:rPr>
                <a:t>: </a:t>
              </a:r>
              <a:r>
                <a:rPr lang="en-US" dirty="0" smtClean="0">
                  <a:latin typeface="Arial Narrow" panose="020B0606020202030204" pitchFamily="34" charset="0"/>
                </a:rPr>
                <a:t>LIME </a:t>
              </a:r>
              <a:r>
                <a:rPr lang="en-US" dirty="0" smtClean="0">
                  <a:latin typeface="Arial Narrow" panose="020B0606020202030204" pitchFamily="34" charset="0"/>
                </a:rPr>
                <a:t>(Local Interpretable Model-agnostic Explanations)</a:t>
              </a:r>
            </a:p>
            <a:p>
              <a:pPr algn="ctr"/>
              <a:r>
                <a:rPr lang="en-US" b="1" dirty="0" smtClean="0">
                  <a:latin typeface="Arial Narrow" panose="020B0606020202030204" pitchFamily="34" charset="0"/>
                </a:rPr>
                <a:t>Ethical AI Evaluation: </a:t>
              </a:r>
              <a:r>
                <a:rPr lang="en-US" dirty="0" smtClean="0">
                  <a:latin typeface="Arial Narrow" panose="020B0606020202030204" pitchFamily="34" charset="0"/>
                </a:rPr>
                <a:t>(</a:t>
              </a:r>
              <a:r>
                <a:rPr lang="en-US" dirty="0" err="1" smtClean="0">
                  <a:latin typeface="Arial Narrow" panose="020B0606020202030204" pitchFamily="34" charset="0"/>
                </a:rPr>
                <a:t>i</a:t>
              </a:r>
              <a:r>
                <a:rPr lang="en-US" dirty="0" smtClean="0">
                  <a:latin typeface="Arial Narrow" panose="020B0606020202030204" pitchFamily="34" charset="0"/>
                </a:rPr>
                <a:t>) Fairness Score  (ii) Error Stability Index (ESI) (iii) Ethical Deployment Index (EDI)</a:t>
              </a:r>
              <a:endParaRPr lang="en-US" dirty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6394323-8F33-95B3-D901-F2D6C2C5C855}"/>
              </a:ext>
            </a:extLst>
          </p:cNvPr>
          <p:cNvGrpSpPr/>
          <p:nvPr/>
        </p:nvGrpSpPr>
        <p:grpSpPr>
          <a:xfrm>
            <a:off x="-3208360" y="-478186"/>
            <a:ext cx="3766266" cy="2168834"/>
            <a:chOff x="152398" y="3448428"/>
            <a:chExt cx="3766266" cy="216883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D028115-EEA5-A0B3-DC38-024B4BDCD6B2}"/>
                </a:ext>
              </a:extLst>
            </p:cNvPr>
            <p:cNvSpPr txBox="1"/>
            <p:nvPr/>
          </p:nvSpPr>
          <p:spPr>
            <a:xfrm>
              <a:off x="152398" y="3448428"/>
              <a:ext cx="3766266" cy="461665"/>
            </a:xfrm>
            <a:prstGeom prst="rect">
              <a:avLst/>
            </a:prstGeom>
            <a:ln>
              <a:solidFill>
                <a:srgbClr val="00B0F0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Arial Narrow" panose="020B0606020202030204" pitchFamily="34" charset="0"/>
                </a:rPr>
                <a:t>Dataset Acquisition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F787DF8-9B1B-4460-637E-6FD31C263BB3}"/>
                </a:ext>
              </a:extLst>
            </p:cNvPr>
            <p:cNvSpPr txBox="1"/>
            <p:nvPr/>
          </p:nvSpPr>
          <p:spPr>
            <a:xfrm>
              <a:off x="1785063" y="3866839"/>
              <a:ext cx="2133601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Arial Narrow" panose="020B0606020202030204" pitchFamily="34" charset="0"/>
                </a:rPr>
                <a:t>NCHSDB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77BB75-085A-4DEB-B9B6-9D56BB87902D}"/>
                </a:ext>
              </a:extLst>
            </p:cNvPr>
            <p:cNvSpPr txBox="1"/>
            <p:nvPr/>
          </p:nvSpPr>
          <p:spPr>
            <a:xfrm>
              <a:off x="1785063" y="4239128"/>
              <a:ext cx="2133601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Arial Narrow" panose="020B0606020202030204" pitchFamily="34" charset="0"/>
                </a:rPr>
                <a:t>Children ≤10 years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5B4197BF-81E7-0CC2-11E3-FE83C1B8D942}"/>
                </a:ext>
              </a:extLst>
            </p:cNvPr>
            <p:cNvSpPr txBox="1"/>
            <p:nvPr/>
          </p:nvSpPr>
          <p:spPr>
            <a:xfrm>
              <a:off x="1785063" y="5238558"/>
              <a:ext cx="2133601" cy="36933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Arial Narrow" panose="020B0606020202030204" pitchFamily="34" charset="0"/>
                </a:rPr>
                <a:t>256 Hz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1701369-E5E9-9522-52D8-EB38F9EC6362}"/>
                </a:ext>
              </a:extLst>
            </p:cNvPr>
            <p:cNvSpPr txBox="1"/>
            <p:nvPr/>
          </p:nvSpPr>
          <p:spPr>
            <a:xfrm>
              <a:off x="152400" y="4602575"/>
              <a:ext cx="1632666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dirty="0">
                  <a:latin typeface="Arial Narrow" panose="020B0606020202030204" pitchFamily="34" charset="0"/>
                </a:rPr>
                <a:t>Channels Used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76AF84C-F92D-3ABC-7780-4ED9EAB7AC6C}"/>
                </a:ext>
              </a:extLst>
            </p:cNvPr>
            <p:cNvSpPr txBox="1"/>
            <p:nvPr/>
          </p:nvSpPr>
          <p:spPr>
            <a:xfrm>
              <a:off x="1785063" y="4603333"/>
              <a:ext cx="2133601" cy="64633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Arial Narrow" panose="020B0606020202030204" pitchFamily="34" charset="0"/>
                </a:rPr>
                <a:t>EEG: F4-M1</a:t>
              </a:r>
            </a:p>
            <a:p>
              <a:pPr algn="ctr"/>
              <a:r>
                <a:rPr lang="en-US" dirty="0">
                  <a:latin typeface="Arial Narrow" panose="020B0606020202030204" pitchFamily="34" charset="0"/>
                </a:rPr>
                <a:t>EOG: ROC-M1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E5C19AE-AC5F-DD67-684A-70CC167AE33E}"/>
                </a:ext>
              </a:extLst>
            </p:cNvPr>
            <p:cNvSpPr txBox="1"/>
            <p:nvPr/>
          </p:nvSpPr>
          <p:spPr>
            <a:xfrm>
              <a:off x="152401" y="5247930"/>
              <a:ext cx="1632665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dirty="0">
                  <a:latin typeface="Arial Narrow" panose="020B0606020202030204" pitchFamily="34" charset="0"/>
                </a:rPr>
                <a:t>Sampling Rate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402F413-60A1-027B-F7B5-3C320B2101C2}"/>
                </a:ext>
              </a:extLst>
            </p:cNvPr>
            <p:cNvSpPr txBox="1"/>
            <p:nvPr/>
          </p:nvSpPr>
          <p:spPr>
            <a:xfrm>
              <a:off x="152399" y="4236892"/>
              <a:ext cx="1632665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dirty="0">
                  <a:latin typeface="Arial Narrow" panose="020B0606020202030204" pitchFamily="34" charset="0"/>
                </a:rPr>
                <a:t>Population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3CF53AD-7F6E-3786-A239-CBA843454709}"/>
                </a:ext>
              </a:extLst>
            </p:cNvPr>
            <p:cNvSpPr txBox="1"/>
            <p:nvPr/>
          </p:nvSpPr>
          <p:spPr>
            <a:xfrm>
              <a:off x="152398" y="3867126"/>
              <a:ext cx="1632665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dirty="0">
                  <a:latin typeface="Arial Narrow" panose="020B0606020202030204" pitchFamily="34" charset="0"/>
                </a:rPr>
                <a:t>Source 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5C055F4-ABFC-CC7E-35E1-62EF1FD151BE}"/>
              </a:ext>
            </a:extLst>
          </p:cNvPr>
          <p:cNvGrpSpPr/>
          <p:nvPr/>
        </p:nvGrpSpPr>
        <p:grpSpPr>
          <a:xfrm>
            <a:off x="1074787" y="-478186"/>
            <a:ext cx="5185574" cy="2067571"/>
            <a:chOff x="5490375" y="1968123"/>
            <a:chExt cx="5185574" cy="206757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7247161-1D1E-C926-3CDD-825D1C997AA6}"/>
                </a:ext>
              </a:extLst>
            </p:cNvPr>
            <p:cNvSpPr txBox="1"/>
            <p:nvPr/>
          </p:nvSpPr>
          <p:spPr>
            <a:xfrm>
              <a:off x="5490375" y="1968123"/>
              <a:ext cx="5185573" cy="461665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00B0F0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Arial Narrow" panose="020B0606020202030204" pitchFamily="34" charset="0"/>
                </a:rPr>
                <a:t>Dataset Preprocessing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DD0D574-29EC-D151-D38F-9F206F186278}"/>
                </a:ext>
              </a:extLst>
            </p:cNvPr>
            <p:cNvSpPr txBox="1"/>
            <p:nvPr/>
          </p:nvSpPr>
          <p:spPr>
            <a:xfrm>
              <a:off x="7123041" y="2466320"/>
              <a:ext cx="3552908" cy="646331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just"/>
              <a:r>
                <a:rPr lang="en-US" dirty="0">
                  <a:latin typeface="Arial Narrow" panose="020B0606020202030204" pitchFamily="34" charset="0"/>
                </a:rPr>
                <a:t>F4-M1    </a:t>
              </a:r>
              <a:r>
                <a:rPr lang="en-US" dirty="0">
                  <a:latin typeface="Arial Narrow" panose="020B0606020202030204" pitchFamily="34" charset="0"/>
                  <a:sym typeface="Wingdings" panose="05000000000000000000" pitchFamily="2" charset="2"/>
                </a:rPr>
                <a:t></a:t>
              </a:r>
              <a:r>
                <a:rPr lang="en-US" dirty="0">
                  <a:latin typeface="Arial Narrow" panose="020B0606020202030204" pitchFamily="34" charset="0"/>
                </a:rPr>
                <a:t>  Bandpass [0.5–50 Hz]</a:t>
              </a:r>
            </a:p>
            <a:p>
              <a:pPr algn="just"/>
              <a:r>
                <a:rPr lang="en-US" dirty="0">
                  <a:latin typeface="Arial Narrow" panose="020B0606020202030204" pitchFamily="34" charset="0"/>
                </a:rPr>
                <a:t>ROC-M1</a:t>
              </a:r>
              <a:r>
                <a:rPr lang="en-US" dirty="0">
                  <a:latin typeface="Arial Narrow" panose="020B0606020202030204" pitchFamily="34" charset="0"/>
                  <a:sym typeface="Wingdings" panose="05000000000000000000" pitchFamily="2" charset="2"/>
                </a:rPr>
                <a:t></a:t>
              </a:r>
              <a:r>
                <a:rPr lang="en-US" dirty="0">
                  <a:latin typeface="Arial Narrow" panose="020B0606020202030204" pitchFamily="34" charset="0"/>
                </a:rPr>
                <a:t> Bandpass [0.5–15 Hz]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856DAC8-7968-54A0-5F27-C8A2949F61E3}"/>
                </a:ext>
              </a:extLst>
            </p:cNvPr>
            <p:cNvSpPr txBox="1"/>
            <p:nvPr/>
          </p:nvSpPr>
          <p:spPr>
            <a:xfrm>
              <a:off x="5490376" y="2466607"/>
              <a:ext cx="1632665" cy="369332"/>
            </a:xfrm>
            <a:custGeom>
              <a:avLst/>
              <a:gdLst>
                <a:gd name="connsiteX0" fmla="*/ 0 w 1632665"/>
                <a:gd name="connsiteY0" fmla="*/ 0 h 369332"/>
                <a:gd name="connsiteX1" fmla="*/ 1632665 w 1632665"/>
                <a:gd name="connsiteY1" fmla="*/ 0 h 369332"/>
                <a:gd name="connsiteX2" fmla="*/ 1632665 w 1632665"/>
                <a:gd name="connsiteY2" fmla="*/ 369332 h 369332"/>
                <a:gd name="connsiteX3" fmla="*/ 0 w 1632665"/>
                <a:gd name="connsiteY3" fmla="*/ 369332 h 369332"/>
                <a:gd name="connsiteX4" fmla="*/ 0 w 1632665"/>
                <a:gd name="connsiteY4" fmla="*/ 0 h 369332"/>
                <a:gd name="connsiteX0" fmla="*/ 0 w 1632665"/>
                <a:gd name="connsiteY0" fmla="*/ 0 h 602570"/>
                <a:gd name="connsiteX1" fmla="*/ 1632665 w 1632665"/>
                <a:gd name="connsiteY1" fmla="*/ 0 h 602570"/>
                <a:gd name="connsiteX2" fmla="*/ 1632665 w 1632665"/>
                <a:gd name="connsiteY2" fmla="*/ 369332 h 602570"/>
                <a:gd name="connsiteX3" fmla="*/ 0 w 1632665"/>
                <a:gd name="connsiteY3" fmla="*/ 369332 h 602570"/>
                <a:gd name="connsiteX4" fmla="*/ 0 w 1632665"/>
                <a:gd name="connsiteY4" fmla="*/ 0 h 60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2665" h="602570">
                  <a:moveTo>
                    <a:pt x="0" y="0"/>
                  </a:moveTo>
                  <a:lnTo>
                    <a:pt x="1632665" y="0"/>
                  </a:lnTo>
                  <a:lnTo>
                    <a:pt x="1632665" y="369332"/>
                  </a:lnTo>
                  <a:cubicBezTo>
                    <a:pt x="1088443" y="369332"/>
                    <a:pt x="703248" y="894118"/>
                    <a:pt x="0" y="3693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dirty="0">
                  <a:latin typeface="Arial Narrow" panose="020B0606020202030204" pitchFamily="34" charset="0"/>
                </a:rPr>
                <a:t>Filtering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C5F1F1F-7081-FB23-EC2A-442913DE7DDC}"/>
                </a:ext>
              </a:extLst>
            </p:cNvPr>
            <p:cNvSpPr txBox="1"/>
            <p:nvPr/>
          </p:nvSpPr>
          <p:spPr>
            <a:xfrm>
              <a:off x="7123041" y="3112364"/>
              <a:ext cx="3552908" cy="92333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just"/>
              <a:r>
                <a:rPr lang="en-US" b="1" dirty="0">
                  <a:latin typeface="Arial Narrow" panose="020B0606020202030204" pitchFamily="34" charset="0"/>
                </a:rPr>
                <a:t>Window Size  </a:t>
              </a:r>
              <a:r>
                <a:rPr lang="en-US" dirty="0">
                  <a:latin typeface="Arial Narrow" panose="020B0606020202030204" pitchFamily="34" charset="0"/>
                  <a:sym typeface="Wingdings" panose="05000000000000000000" pitchFamily="2" charset="2"/>
                </a:rPr>
                <a:t></a:t>
              </a:r>
              <a:r>
                <a:rPr lang="en-US" dirty="0">
                  <a:latin typeface="Arial Narrow" panose="020B0606020202030204" pitchFamily="34" charset="0"/>
                </a:rPr>
                <a:t> 30 seconds</a:t>
              </a:r>
            </a:p>
            <a:p>
              <a:pPr algn="just"/>
              <a:r>
                <a:rPr lang="en-US" b="1" dirty="0">
                  <a:latin typeface="Arial Narrow" panose="020B0606020202030204" pitchFamily="34" charset="0"/>
                </a:rPr>
                <a:t>Epoch Points </a:t>
              </a:r>
              <a:r>
                <a:rPr lang="en-US" dirty="0">
                  <a:latin typeface="Arial Narrow" panose="020B0606020202030204" pitchFamily="34" charset="0"/>
                  <a:sym typeface="Wingdings" panose="05000000000000000000" pitchFamily="2" charset="2"/>
                </a:rPr>
                <a:t> </a:t>
              </a:r>
              <a:r>
                <a:rPr lang="en-US" dirty="0">
                  <a:latin typeface="Arial Narrow" panose="020B0606020202030204" pitchFamily="34" charset="0"/>
                </a:rPr>
                <a:t>7680 (256 × 30)</a:t>
              </a:r>
            </a:p>
            <a:p>
              <a:pPr algn="just"/>
              <a:r>
                <a:rPr lang="en-US" b="1" dirty="0">
                  <a:latin typeface="Arial Narrow" panose="020B0606020202030204" pitchFamily="34" charset="0"/>
                </a:rPr>
                <a:t>Standard </a:t>
              </a:r>
              <a:r>
                <a:rPr lang="en-US" dirty="0">
                  <a:latin typeface="Arial Narrow" panose="020B0606020202030204" pitchFamily="34" charset="0"/>
                </a:rPr>
                <a:t>        </a:t>
              </a:r>
              <a:r>
                <a:rPr lang="en-US" dirty="0">
                  <a:latin typeface="Arial Narrow" panose="020B0606020202030204" pitchFamily="34" charset="0"/>
                  <a:sym typeface="Wingdings" panose="05000000000000000000" pitchFamily="2" charset="2"/>
                </a:rPr>
                <a:t></a:t>
              </a:r>
              <a:r>
                <a:rPr lang="en-US" dirty="0">
                  <a:latin typeface="Arial Narrow" panose="020B0606020202030204" pitchFamily="34" charset="0"/>
                </a:rPr>
                <a:t>  AASM guidelines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FC170C08-65EC-8407-6973-F4EE980D6AF2}"/>
                </a:ext>
              </a:extLst>
            </p:cNvPr>
            <p:cNvSpPr txBox="1"/>
            <p:nvPr/>
          </p:nvSpPr>
          <p:spPr>
            <a:xfrm>
              <a:off x="5490375" y="3283163"/>
              <a:ext cx="1632665" cy="646331"/>
            </a:xfrm>
            <a:custGeom>
              <a:avLst/>
              <a:gdLst>
                <a:gd name="connsiteX0" fmla="*/ 0 w 1632665"/>
                <a:gd name="connsiteY0" fmla="*/ 0 h 369332"/>
                <a:gd name="connsiteX1" fmla="*/ 1632665 w 1632665"/>
                <a:gd name="connsiteY1" fmla="*/ 0 h 369332"/>
                <a:gd name="connsiteX2" fmla="*/ 1632665 w 1632665"/>
                <a:gd name="connsiteY2" fmla="*/ 369332 h 369332"/>
                <a:gd name="connsiteX3" fmla="*/ 0 w 1632665"/>
                <a:gd name="connsiteY3" fmla="*/ 369332 h 369332"/>
                <a:gd name="connsiteX4" fmla="*/ 0 w 1632665"/>
                <a:gd name="connsiteY4" fmla="*/ 0 h 369332"/>
                <a:gd name="connsiteX0" fmla="*/ 0 w 1632665"/>
                <a:gd name="connsiteY0" fmla="*/ 0 h 602570"/>
                <a:gd name="connsiteX1" fmla="*/ 1632665 w 1632665"/>
                <a:gd name="connsiteY1" fmla="*/ 0 h 602570"/>
                <a:gd name="connsiteX2" fmla="*/ 1632665 w 1632665"/>
                <a:gd name="connsiteY2" fmla="*/ 369332 h 602570"/>
                <a:gd name="connsiteX3" fmla="*/ 0 w 1632665"/>
                <a:gd name="connsiteY3" fmla="*/ 369332 h 602570"/>
                <a:gd name="connsiteX4" fmla="*/ 0 w 1632665"/>
                <a:gd name="connsiteY4" fmla="*/ 0 h 60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2665" h="602570">
                  <a:moveTo>
                    <a:pt x="0" y="0"/>
                  </a:moveTo>
                  <a:lnTo>
                    <a:pt x="1632665" y="0"/>
                  </a:lnTo>
                  <a:lnTo>
                    <a:pt x="1632665" y="369332"/>
                  </a:lnTo>
                  <a:cubicBezTo>
                    <a:pt x="1088443" y="369332"/>
                    <a:pt x="703248" y="894118"/>
                    <a:pt x="0" y="36933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en-US" dirty="0">
                  <a:latin typeface="Arial Narrow" panose="020B0606020202030204" pitchFamily="34" charset="0"/>
                </a:rPr>
                <a:t>Segmentation</a:t>
              </a:r>
            </a:p>
            <a:p>
              <a:endParaRPr lang="en-US" dirty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E31F671-9A01-36E9-84B5-0F529ADDA2B4}"/>
              </a:ext>
            </a:extLst>
          </p:cNvPr>
          <p:cNvGrpSpPr/>
          <p:nvPr/>
        </p:nvGrpSpPr>
        <p:grpSpPr>
          <a:xfrm>
            <a:off x="6765908" y="-452538"/>
            <a:ext cx="5193524" cy="2038626"/>
            <a:chOff x="4251296" y="2644715"/>
            <a:chExt cx="5193524" cy="2038626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8639CD2-09DB-4DC6-9F18-9138D2B4FBB7}"/>
                </a:ext>
              </a:extLst>
            </p:cNvPr>
            <p:cNvSpPr txBox="1"/>
            <p:nvPr/>
          </p:nvSpPr>
          <p:spPr>
            <a:xfrm>
              <a:off x="4251296" y="2644715"/>
              <a:ext cx="5185573" cy="461665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00B0F0"/>
              </a:solidFill>
            </a:ln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Arial Narrow" panose="020B0606020202030204" pitchFamily="34" charset="0"/>
                </a:rPr>
                <a:t>Feature Extraction &amp; Engineering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FA0317B-2AD6-700A-4576-CD974E13978B}"/>
                </a:ext>
              </a:extLst>
            </p:cNvPr>
            <p:cNvSpPr txBox="1"/>
            <p:nvPr/>
          </p:nvSpPr>
          <p:spPr>
            <a:xfrm>
              <a:off x="4259246" y="3531845"/>
              <a:ext cx="2443703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Arial Narrow" panose="020B0606020202030204" pitchFamily="34" charset="0"/>
                </a:rPr>
                <a:t>Time-Domain Features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350E1E1-EA06-DCCC-424C-765947C85129}"/>
                </a:ext>
              </a:extLst>
            </p:cNvPr>
            <p:cNvSpPr txBox="1"/>
            <p:nvPr/>
          </p:nvSpPr>
          <p:spPr>
            <a:xfrm>
              <a:off x="7337056" y="3922556"/>
              <a:ext cx="2107763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Arial Narrow" panose="020B0606020202030204" pitchFamily="34" charset="0"/>
                </a:rPr>
                <a:t>Statistical Features   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99DD1012-1AEB-9621-5435-CBAA33DD7B0F}"/>
                </a:ext>
              </a:extLst>
            </p:cNvPr>
            <p:cNvSpPr txBox="1"/>
            <p:nvPr/>
          </p:nvSpPr>
          <p:spPr>
            <a:xfrm>
              <a:off x="7337057" y="3523645"/>
              <a:ext cx="2107763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Arial Narrow" panose="020B0606020202030204" pitchFamily="34" charset="0"/>
                </a:rPr>
                <a:t>Spectral Features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D90A388-5B83-FC2B-9ED8-8325BF42E730}"/>
                </a:ext>
              </a:extLst>
            </p:cNvPr>
            <p:cNvSpPr txBox="1"/>
            <p:nvPr/>
          </p:nvSpPr>
          <p:spPr>
            <a:xfrm>
              <a:off x="4259245" y="3928299"/>
              <a:ext cx="2443703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Arial Narrow" panose="020B0606020202030204" pitchFamily="34" charset="0"/>
                </a:rPr>
                <a:t>Wavelet Features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471BC33-B96B-B41D-382C-0F6F4E21BEB9}"/>
                </a:ext>
              </a:extLst>
            </p:cNvPr>
            <p:cNvSpPr txBox="1"/>
            <p:nvPr/>
          </p:nvSpPr>
          <p:spPr>
            <a:xfrm>
              <a:off x="5179554" y="3132192"/>
              <a:ext cx="3326052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dirty="0">
                  <a:latin typeface="Arial Narrow" panose="020B0606020202030204" pitchFamily="34" charset="0"/>
                </a:rPr>
                <a:t>EEG&amp; EOG Specific Features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0DB385B-4D97-E6CF-35FC-48358A592809}"/>
                </a:ext>
              </a:extLst>
            </p:cNvPr>
            <p:cNvSpPr txBox="1"/>
            <p:nvPr/>
          </p:nvSpPr>
          <p:spPr>
            <a:xfrm>
              <a:off x="4259245" y="4314009"/>
              <a:ext cx="5185574" cy="369332"/>
            </a:xfrm>
            <a:prstGeom prst="rect">
              <a:avLst/>
            </a:prstGeom>
            <a:solidFill>
              <a:schemeClr val="bg2"/>
            </a:solidFill>
            <a:ln>
              <a:solidFill>
                <a:srgbClr val="00B0F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Arial Narrow" panose="020B0606020202030204" pitchFamily="34" charset="0"/>
                </a:rPr>
                <a:t>Total     </a:t>
              </a:r>
              <a:r>
                <a:rPr lang="en-US" b="1" dirty="0">
                  <a:latin typeface="Arial Narrow" panose="020B0606020202030204" pitchFamily="34" charset="0"/>
                  <a:sym typeface="Wingdings" panose="05000000000000000000" pitchFamily="2" charset="2"/>
                </a:rPr>
                <a:t> </a:t>
              </a:r>
              <a:r>
                <a:rPr lang="en-US" dirty="0">
                  <a:latin typeface="Arial Narrow" panose="020B0606020202030204" pitchFamily="34" charset="0"/>
                  <a:sym typeface="Wingdings" panose="05000000000000000000" pitchFamily="2" charset="2"/>
                </a:rPr>
                <a:t>  </a:t>
              </a:r>
              <a:r>
                <a:rPr lang="en-US" b="1" dirty="0">
                  <a:latin typeface="Arial Narrow" panose="020B0606020202030204" pitchFamily="34" charset="0"/>
                </a:rPr>
                <a:t>137 Multimodal Features (EEG + EOG)</a:t>
              </a:r>
            </a:p>
          </p:txBody>
        </p:sp>
      </p:grpSp>
      <p:sp>
        <p:nvSpPr>
          <p:cNvPr id="89" name="Arrow: Chevron 88">
            <a:extLst>
              <a:ext uri="{FF2B5EF4-FFF2-40B4-BE49-F238E27FC236}">
                <a16:creationId xmlns:a16="http://schemas.microsoft.com/office/drawing/2014/main" id="{599E5F01-64E7-12AB-0497-C9BA5E8C3348}"/>
              </a:ext>
            </a:extLst>
          </p:cNvPr>
          <p:cNvSpPr/>
          <p:nvPr/>
        </p:nvSpPr>
        <p:spPr>
          <a:xfrm>
            <a:off x="621937" y="22383"/>
            <a:ext cx="444900" cy="1333500"/>
          </a:xfrm>
          <a:prstGeom prst="chevron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90" name="Arrow: Chevron 89">
            <a:extLst>
              <a:ext uri="{FF2B5EF4-FFF2-40B4-BE49-F238E27FC236}">
                <a16:creationId xmlns:a16="http://schemas.microsoft.com/office/drawing/2014/main" id="{70D0C42A-636A-0734-F923-7BFBADA10AA1}"/>
              </a:ext>
            </a:extLst>
          </p:cNvPr>
          <p:cNvSpPr/>
          <p:nvPr/>
        </p:nvSpPr>
        <p:spPr>
          <a:xfrm>
            <a:off x="6299606" y="32463"/>
            <a:ext cx="444900" cy="1333500"/>
          </a:xfrm>
          <a:prstGeom prst="chevron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91" name="Arrow: Chevron 90">
            <a:extLst>
              <a:ext uri="{FF2B5EF4-FFF2-40B4-BE49-F238E27FC236}">
                <a16:creationId xmlns:a16="http://schemas.microsoft.com/office/drawing/2014/main" id="{59B43866-B7A9-A352-D01D-6AEDC13775D1}"/>
              </a:ext>
            </a:extLst>
          </p:cNvPr>
          <p:cNvSpPr/>
          <p:nvPr/>
        </p:nvSpPr>
        <p:spPr>
          <a:xfrm rot="5400000">
            <a:off x="14000593" y="1141788"/>
            <a:ext cx="444900" cy="1333500"/>
          </a:xfrm>
          <a:prstGeom prst="chevron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1" name="Heptagon 40"/>
          <p:cNvSpPr/>
          <p:nvPr/>
        </p:nvSpPr>
        <p:spPr>
          <a:xfrm>
            <a:off x="11002213" y="2398573"/>
            <a:ext cx="2099813" cy="1881063"/>
          </a:xfrm>
          <a:prstGeom prst="heptagon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Scheme </a:t>
            </a:r>
            <a:r>
              <a:rPr lang="en-US" b="1" dirty="0" smtClean="0">
                <a:latin typeface="Arial Narrow" panose="020B0606020202030204" pitchFamily="34" charset="0"/>
              </a:rPr>
              <a:t>2</a:t>
            </a:r>
            <a:endParaRPr lang="en-US" b="1" dirty="0">
              <a:latin typeface="Arial Narrow" panose="020B0606020202030204" pitchFamily="34" charset="0"/>
            </a:endParaRPr>
          </a:p>
          <a:p>
            <a:pPr algn="ctr"/>
            <a:r>
              <a:rPr lang="en-US" b="1" dirty="0" smtClean="0">
                <a:latin typeface="Arial Narrow" panose="020B0606020202030204" pitchFamily="34" charset="0"/>
              </a:rPr>
              <a:t>PCA Reduced</a:t>
            </a:r>
            <a:endParaRPr lang="ur-PK" b="1" dirty="0">
              <a:latin typeface="Arial Narrow" panose="020B0606020202030204" pitchFamily="34" charset="0"/>
            </a:endParaRPr>
          </a:p>
        </p:txBody>
      </p:sp>
      <p:sp>
        <p:nvSpPr>
          <p:cNvPr id="42" name="Heptagon 41"/>
          <p:cNvSpPr/>
          <p:nvPr/>
        </p:nvSpPr>
        <p:spPr>
          <a:xfrm>
            <a:off x="8757999" y="2458947"/>
            <a:ext cx="2099813" cy="1881063"/>
          </a:xfrm>
          <a:prstGeom prst="heptago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Scheme </a:t>
            </a:r>
            <a:r>
              <a:rPr lang="en-US" b="1" dirty="0" smtClean="0">
                <a:latin typeface="Arial Narrow" panose="020B0606020202030204" pitchFamily="34" charset="0"/>
              </a:rPr>
              <a:t>3</a:t>
            </a:r>
            <a:endParaRPr lang="en-US" b="1" dirty="0">
              <a:latin typeface="Arial Narrow" panose="020B0606020202030204" pitchFamily="34" charset="0"/>
            </a:endParaRPr>
          </a:p>
          <a:p>
            <a:pPr algn="ctr"/>
            <a:r>
              <a:rPr lang="en-US" b="1" dirty="0" smtClean="0">
                <a:latin typeface="Arial Narrow" panose="020B0606020202030204" pitchFamily="34" charset="0"/>
              </a:rPr>
              <a:t>Feature selection - Relief algo (40)</a:t>
            </a:r>
            <a:endParaRPr lang="ur-PK" b="1" dirty="0">
              <a:latin typeface="Arial Narrow" panose="020B0606020202030204" pitchFamily="34" charset="0"/>
            </a:endParaRPr>
          </a:p>
        </p:txBody>
      </p:sp>
      <p:sp>
        <p:nvSpPr>
          <p:cNvPr id="44" name="Heptagon 43"/>
          <p:cNvSpPr/>
          <p:nvPr/>
        </p:nvSpPr>
        <p:spPr>
          <a:xfrm>
            <a:off x="13246427" y="2323440"/>
            <a:ext cx="2099813" cy="1881063"/>
          </a:xfrm>
          <a:prstGeom prst="heptagon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 smtClean="0">
                <a:latin typeface="Arial Narrow" panose="020B0606020202030204" pitchFamily="34" charset="0"/>
              </a:rPr>
              <a:t>Scheme 1</a:t>
            </a:r>
          </a:p>
          <a:p>
            <a:pPr algn="ctr"/>
            <a:r>
              <a:rPr lang="en-US" b="1" dirty="0" smtClean="0">
                <a:latin typeface="Arial Narrow" panose="020B0606020202030204" pitchFamily="34" charset="0"/>
              </a:rPr>
              <a:t>Full features (137)</a:t>
            </a:r>
            <a:endParaRPr lang="ur-PK" b="1" dirty="0">
              <a:latin typeface="Arial Narrow" panose="020B0606020202030204" pitchFamily="34" charset="0"/>
            </a:endParaRPr>
          </a:p>
        </p:txBody>
      </p:sp>
      <p:sp>
        <p:nvSpPr>
          <p:cNvPr id="45" name="Arrow: Chevron 89">
            <a:extLst>
              <a:ext uri="{FF2B5EF4-FFF2-40B4-BE49-F238E27FC236}">
                <a16:creationId xmlns:a16="http://schemas.microsoft.com/office/drawing/2014/main" id="{70D0C42A-636A-0734-F923-7BFBADA10AA1}"/>
              </a:ext>
            </a:extLst>
          </p:cNvPr>
          <p:cNvSpPr/>
          <p:nvPr/>
        </p:nvSpPr>
        <p:spPr>
          <a:xfrm>
            <a:off x="12371089" y="154836"/>
            <a:ext cx="444900" cy="1333500"/>
          </a:xfrm>
          <a:prstGeom prst="chevron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7" name="Arrow: Chevron 90">
            <a:extLst>
              <a:ext uri="{FF2B5EF4-FFF2-40B4-BE49-F238E27FC236}">
                <a16:creationId xmlns:a16="http://schemas.microsoft.com/office/drawing/2014/main" id="{59B43866-B7A9-A352-D01D-6AEDC13775D1}"/>
              </a:ext>
            </a:extLst>
          </p:cNvPr>
          <p:cNvSpPr/>
          <p:nvPr/>
        </p:nvSpPr>
        <p:spPr>
          <a:xfrm rot="10800000">
            <a:off x="8022859" y="2615727"/>
            <a:ext cx="779199" cy="1889970"/>
          </a:xfrm>
          <a:prstGeom prst="chevron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Flowchart: Terminator 1"/>
          <p:cNvSpPr/>
          <p:nvPr/>
        </p:nvSpPr>
        <p:spPr>
          <a:xfrm>
            <a:off x="-215429" y="4311589"/>
            <a:ext cx="1457739" cy="513271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latin typeface="Arial Narrow" panose="020B0606020202030204" pitchFamily="34" charset="0"/>
              </a:rPr>
              <a:t>Wake</a:t>
            </a:r>
            <a:endParaRPr lang="ur-PK" dirty="0">
              <a:latin typeface="Arial Narrow" panose="020B0606020202030204" pitchFamily="34" charset="0"/>
            </a:endParaRPr>
          </a:p>
        </p:txBody>
      </p:sp>
      <p:sp>
        <p:nvSpPr>
          <p:cNvPr id="49" name="Flowchart: Terminator 48"/>
          <p:cNvSpPr/>
          <p:nvPr/>
        </p:nvSpPr>
        <p:spPr>
          <a:xfrm>
            <a:off x="1457349" y="4321066"/>
            <a:ext cx="1457739" cy="513271"/>
          </a:xfrm>
          <a:prstGeom prst="flowChartTerminator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latin typeface="Arial Narrow" panose="020B0606020202030204" pitchFamily="34" charset="0"/>
              </a:rPr>
              <a:t>N1</a:t>
            </a:r>
            <a:endParaRPr lang="ur-PK" dirty="0">
              <a:latin typeface="Arial Narrow" panose="020B0606020202030204" pitchFamily="34" charset="0"/>
            </a:endParaRPr>
          </a:p>
        </p:txBody>
      </p:sp>
      <p:sp>
        <p:nvSpPr>
          <p:cNvPr id="51" name="Flowchart: Terminator 50"/>
          <p:cNvSpPr/>
          <p:nvPr/>
        </p:nvSpPr>
        <p:spPr>
          <a:xfrm>
            <a:off x="3197007" y="4340010"/>
            <a:ext cx="1457739" cy="513271"/>
          </a:xfrm>
          <a:prstGeom prst="flowChartTerminator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latin typeface="Arial Narrow" panose="020B0606020202030204" pitchFamily="34" charset="0"/>
              </a:rPr>
              <a:t>N2</a:t>
            </a:r>
            <a:endParaRPr lang="ur-PK" dirty="0">
              <a:latin typeface="Arial Narrow" panose="020B0606020202030204" pitchFamily="34" charset="0"/>
            </a:endParaRPr>
          </a:p>
        </p:txBody>
      </p:sp>
      <p:sp>
        <p:nvSpPr>
          <p:cNvPr id="52" name="Flowchart: Terminator 51"/>
          <p:cNvSpPr/>
          <p:nvPr/>
        </p:nvSpPr>
        <p:spPr>
          <a:xfrm>
            <a:off x="4896909" y="4338151"/>
            <a:ext cx="1457739" cy="513271"/>
          </a:xfrm>
          <a:prstGeom prst="flowChartTerminator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latin typeface="Arial Narrow" panose="020B0606020202030204" pitchFamily="34" charset="0"/>
              </a:rPr>
              <a:t>N3</a:t>
            </a:r>
            <a:endParaRPr lang="ur-PK" dirty="0">
              <a:latin typeface="Arial Narrow" panose="020B0606020202030204" pitchFamily="34" charset="0"/>
            </a:endParaRPr>
          </a:p>
        </p:txBody>
      </p:sp>
      <p:sp>
        <p:nvSpPr>
          <p:cNvPr id="53" name="Flowchart: Terminator 52"/>
          <p:cNvSpPr/>
          <p:nvPr/>
        </p:nvSpPr>
        <p:spPr>
          <a:xfrm>
            <a:off x="6494392" y="4311588"/>
            <a:ext cx="1457739" cy="513271"/>
          </a:xfrm>
          <a:prstGeom prst="flowChartTerminator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smtClean="0">
                <a:latin typeface="Arial Narrow" panose="020B0606020202030204" pitchFamily="34" charset="0"/>
              </a:rPr>
              <a:t>REM</a:t>
            </a:r>
            <a:endParaRPr lang="ur-PK" dirty="0">
              <a:latin typeface="Arial Narrow" panose="020B0606020202030204" pitchFamily="34" charset="0"/>
            </a:endParaRPr>
          </a:p>
        </p:txBody>
      </p:sp>
      <p:cxnSp>
        <p:nvCxnSpPr>
          <p:cNvPr id="5" name="Elbow Connector 4"/>
          <p:cNvCxnSpPr>
            <a:stCxn id="73" idx="2"/>
            <a:endCxn id="2" idx="0"/>
          </p:cNvCxnSpPr>
          <p:nvPr/>
        </p:nvCxnSpPr>
        <p:spPr>
          <a:xfrm rot="5400000">
            <a:off x="1885665" y="2427414"/>
            <a:ext cx="511951" cy="32563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endCxn id="49" idx="0"/>
          </p:cNvCxnSpPr>
          <p:nvPr/>
        </p:nvCxnSpPr>
        <p:spPr>
          <a:xfrm>
            <a:off x="2186218" y="4029200"/>
            <a:ext cx="1" cy="2918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Elbow Connector 9"/>
          <p:cNvCxnSpPr>
            <a:endCxn id="53" idx="0"/>
          </p:cNvCxnSpPr>
          <p:nvPr/>
        </p:nvCxnSpPr>
        <p:spPr>
          <a:xfrm>
            <a:off x="3769839" y="4055613"/>
            <a:ext cx="3453423" cy="25597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endCxn id="51" idx="0"/>
          </p:cNvCxnSpPr>
          <p:nvPr/>
        </p:nvCxnSpPr>
        <p:spPr>
          <a:xfrm>
            <a:off x="3921515" y="4055613"/>
            <a:ext cx="4362" cy="2843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52" idx="0"/>
          </p:cNvCxnSpPr>
          <p:nvPr/>
        </p:nvCxnSpPr>
        <p:spPr>
          <a:xfrm>
            <a:off x="5625778" y="4029200"/>
            <a:ext cx="1" cy="308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227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202</Words>
  <Application>Microsoft Office PowerPoint</Application>
  <PresentationFormat>Widescreen</PresentationFormat>
  <Paragraphs>45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Arial Narrow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Suleman</dc:creator>
  <cp:lastModifiedBy>Moorche</cp:lastModifiedBy>
  <cp:revision>13</cp:revision>
  <dcterms:created xsi:type="dcterms:W3CDTF">2025-04-29T05:09:03Z</dcterms:created>
  <dcterms:modified xsi:type="dcterms:W3CDTF">2026-01-10T21:08:36Z</dcterms:modified>
</cp:coreProperties>
</file>